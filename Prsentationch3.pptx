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312" r:id="rId4"/>
    <p:sldId id="283" r:id="rId5"/>
    <p:sldId id="277" r:id="rId6"/>
    <p:sldId id="284" r:id="rId7"/>
    <p:sldId id="275" r:id="rId8"/>
    <p:sldId id="287" r:id="rId9"/>
    <p:sldId id="313" r:id="rId10"/>
    <p:sldId id="314" r:id="rId11"/>
    <p:sldId id="285" r:id="rId12"/>
    <p:sldId id="316" r:id="rId13"/>
    <p:sldId id="311" r:id="rId14"/>
    <p:sldId id="317" r:id="rId15"/>
    <p:sldId id="279" r:id="rId16"/>
  </p:sldIdLst>
  <p:sldSz cx="18288000" cy="10287000"/>
  <p:notesSz cx="6858000" cy="9144000"/>
  <p:embeddedFontLst>
    <p:embeddedFont>
      <p:font typeface="Lato" panose="020F0502020204030203" pitchFamily="34" charset="0"/>
      <p:regular r:id="rId18"/>
    </p:embeddedFont>
    <p:embeddedFont>
      <p:font typeface="Malgun Gothic" panose="020B0503020000020004" pitchFamily="34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0CFBD-2DEB-440F-9191-7BCF2F1F3C7B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45B8-2127-40CB-94F2-866A59635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568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060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000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279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7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6163dee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b6163dee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27b6163dee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449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70451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6043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/>
          </a:p>
        </p:txBody>
      </p:sp>
      <p:sp>
        <p:nvSpPr>
          <p:cNvPr id="24" name="Google Shape;24;p48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10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15733" y="4112208"/>
            <a:ext cx="13102949" cy="101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4400"/>
            </a:pPr>
            <a:r>
              <a:rPr lang="en-US" sz="5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Library Management System</a:t>
            </a:r>
            <a:endParaRPr lang="en-US" sz="42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15734" y="5847366"/>
            <a:ext cx="906750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B3E3"/>
              </a:buClr>
              <a:buSzPts val="2400"/>
            </a:pPr>
            <a:r>
              <a:rPr lang="en-US" sz="3600" dirty="0">
                <a:solidFill>
                  <a:srgbClr val="00B3E3"/>
                </a:solidFill>
              </a:rPr>
              <a:t>SIC 8 </a:t>
            </a:r>
            <a:endParaRPr sz="3600" dirty="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0;p2">
            <a:extLst>
              <a:ext uri="{FF2B5EF4-FFF2-40B4-BE49-F238E27FC236}">
                <a16:creationId xmlns:a16="http://schemas.microsoft.com/office/drawing/2014/main" id="{4D6E79AD-A326-7676-B9BA-D473A9DDA013}"/>
              </a:ext>
            </a:extLst>
          </p:cNvPr>
          <p:cNvSpPr/>
          <p:nvPr/>
        </p:nvSpPr>
        <p:spPr>
          <a:xfrm>
            <a:off x="3015732" y="6401267"/>
            <a:ext cx="689026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3150" dirty="0">
                <a:solidFill>
                  <a:srgbClr val="00B3E3"/>
                </a:solidFill>
                <a:latin typeface="Arial"/>
                <a:ea typeface="Arial"/>
                <a:cs typeface="Arial"/>
                <a:sym typeface="Arial"/>
              </a:rPr>
              <a:t>Coding and Programming Course</a:t>
            </a:r>
            <a:endParaRPr sz="3150" dirty="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79846-15A7-43AC-4D6C-D8A33360C732}"/>
              </a:ext>
            </a:extLst>
          </p:cNvPr>
          <p:cNvSpPr txBox="1"/>
          <p:nvPr/>
        </p:nvSpPr>
        <p:spPr>
          <a:xfrm>
            <a:off x="2898165" y="6787994"/>
            <a:ext cx="7426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B3E3"/>
                </a:solidFill>
              </a:rPr>
              <a:t>Team 1 </a:t>
            </a:r>
            <a:br>
              <a:rPr lang="en-US" sz="3600" dirty="0">
                <a:solidFill>
                  <a:srgbClr val="00B3E3"/>
                </a:solidFill>
              </a:rPr>
            </a:br>
            <a:r>
              <a:rPr lang="en-US" sz="3600" dirty="0">
                <a:solidFill>
                  <a:srgbClr val="00B3E3"/>
                </a:solidFill>
              </a:rPr>
              <a:t> 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/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19400" y="3703797"/>
            <a:ext cx="8553420" cy="417179"/>
            <a:chOff x="571500" y="2336175"/>
            <a:chExt cx="5702280" cy="278119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838700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7F7E447A-C5E1-7420-8FBB-3CF4F1A9AD02}"/>
              </a:ext>
            </a:extLst>
          </p:cNvPr>
          <p:cNvGrpSpPr/>
          <p:nvPr/>
        </p:nvGrpSpPr>
        <p:grpSpPr>
          <a:xfrm>
            <a:off x="2819400" y="53721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343142B-432C-21AC-C3ED-C746402D1775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A929D6BB-1C0E-E7E6-0485-DFC4F9631D1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6B0CC098-F2B6-F4AB-ACA1-ADA8CE90848D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5827A87A-FDAA-039B-8499-A0134E71CC44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8C925EB8-49B2-7445-4CD7-4610E9FC10C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D876FA5B-C218-9A6F-8397-0DE31982F5F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5C09F73E-CCE3-EB94-1BF8-3F91767F5498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62729B27-633B-0381-594B-D268770FDC45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5BA8E6CA-3E50-9C10-4FDF-72B2CFB555C3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983DC240-2142-1D58-B1DF-73232CB9745F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3A4624BC-583E-7CE8-CECD-D0FFBABAA10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7BE938D-83D0-31CC-F469-A384BD411D9E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9B7D4C13-7475-82A3-078D-64A6845669B6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5894D6D0-8127-F992-F67B-EE9DD597918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4274348-A913-AA5D-74E9-0D6A93027CEC}"/>
              </a:ext>
            </a:extLst>
          </p:cNvPr>
          <p:cNvSpPr txBox="1"/>
          <p:nvPr/>
        </p:nvSpPr>
        <p:spPr>
          <a:xfrm>
            <a:off x="5257800" y="39025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8;p3">
            <a:extLst>
              <a:ext uri="{FF2B5EF4-FFF2-40B4-BE49-F238E27FC236}">
                <a16:creationId xmlns:a16="http://schemas.microsoft.com/office/drawing/2014/main" id="{F65D3117-297F-DC4C-CB8F-E1C10A82C24B}"/>
              </a:ext>
            </a:extLst>
          </p:cNvPr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Project Team</a:t>
            </a:r>
            <a:endParaRPr sz="5000" b="1" dirty="0"/>
          </a:p>
        </p:txBody>
      </p:sp>
      <p:grpSp>
        <p:nvGrpSpPr>
          <p:cNvPr id="10" name="Google Shape;50;p3">
            <a:extLst>
              <a:ext uri="{FF2B5EF4-FFF2-40B4-BE49-F238E27FC236}">
                <a16:creationId xmlns:a16="http://schemas.microsoft.com/office/drawing/2014/main" id="{53C60BAF-EF7C-BAD2-2541-5F8DC9F841DA}"/>
              </a:ext>
            </a:extLst>
          </p:cNvPr>
          <p:cNvGrpSpPr/>
          <p:nvPr/>
        </p:nvGrpSpPr>
        <p:grpSpPr>
          <a:xfrm>
            <a:off x="2819400" y="3703797"/>
            <a:ext cx="8553420" cy="417179"/>
            <a:chOff x="571500" y="2336175"/>
            <a:chExt cx="5702280" cy="278119"/>
          </a:xfrm>
        </p:grpSpPr>
        <p:sp>
          <p:nvSpPr>
            <p:cNvPr id="11" name="Google Shape;51;p3">
              <a:extLst>
                <a:ext uri="{FF2B5EF4-FFF2-40B4-BE49-F238E27FC236}">
                  <a16:creationId xmlns:a16="http://schemas.microsoft.com/office/drawing/2014/main" id="{9A61306C-065A-BD34-4F4C-4EEC050BBD4C}"/>
                </a:ext>
              </a:extLst>
            </p:cNvPr>
            <p:cNvSpPr/>
            <p:nvPr/>
          </p:nvSpPr>
          <p:spPr>
            <a:xfrm>
              <a:off x="754380" y="23372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Mohamed Ayman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Google Shape;52;p3">
              <a:extLst>
                <a:ext uri="{FF2B5EF4-FFF2-40B4-BE49-F238E27FC236}">
                  <a16:creationId xmlns:a16="http://schemas.microsoft.com/office/drawing/2014/main" id="{EBD496E7-27D9-CA55-F4B8-706426934DB8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50;p3">
            <a:extLst>
              <a:ext uri="{FF2B5EF4-FFF2-40B4-BE49-F238E27FC236}">
                <a16:creationId xmlns:a16="http://schemas.microsoft.com/office/drawing/2014/main" id="{5DB46A17-58A5-1AA2-C9FF-2B1F5445E636}"/>
              </a:ext>
            </a:extLst>
          </p:cNvPr>
          <p:cNvGrpSpPr/>
          <p:nvPr/>
        </p:nvGrpSpPr>
        <p:grpSpPr>
          <a:xfrm>
            <a:off x="2819400" y="4805175"/>
            <a:ext cx="8553420" cy="417179"/>
            <a:chOff x="571500" y="2336175"/>
            <a:chExt cx="5702280" cy="278119"/>
          </a:xfrm>
        </p:grpSpPr>
        <p:sp>
          <p:nvSpPr>
            <p:cNvPr id="14" name="Google Shape;51;p3">
              <a:extLst>
                <a:ext uri="{FF2B5EF4-FFF2-40B4-BE49-F238E27FC236}">
                  <a16:creationId xmlns:a16="http://schemas.microsoft.com/office/drawing/2014/main" id="{84E61F13-6B6E-43E8-4525-2E782CDF3654}"/>
                </a:ext>
              </a:extLst>
            </p:cNvPr>
            <p:cNvSpPr/>
            <p:nvPr/>
          </p:nvSpPr>
          <p:spPr>
            <a:xfrm>
              <a:off x="754380" y="23372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Habiba ElGohary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Google Shape;52;p3">
              <a:extLst>
                <a:ext uri="{FF2B5EF4-FFF2-40B4-BE49-F238E27FC236}">
                  <a16:creationId xmlns:a16="http://schemas.microsoft.com/office/drawing/2014/main" id="{D14317B9-4A3C-6823-34B9-BA396EDFE886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50;p3">
            <a:extLst>
              <a:ext uri="{FF2B5EF4-FFF2-40B4-BE49-F238E27FC236}">
                <a16:creationId xmlns:a16="http://schemas.microsoft.com/office/drawing/2014/main" id="{D32B3507-04F9-4885-1EDF-C31C91135A25}"/>
              </a:ext>
            </a:extLst>
          </p:cNvPr>
          <p:cNvGrpSpPr/>
          <p:nvPr/>
        </p:nvGrpSpPr>
        <p:grpSpPr>
          <a:xfrm>
            <a:off x="2819400" y="5996614"/>
            <a:ext cx="8553420" cy="417179"/>
            <a:chOff x="571500" y="2336175"/>
            <a:chExt cx="5702280" cy="278119"/>
          </a:xfrm>
        </p:grpSpPr>
        <p:sp>
          <p:nvSpPr>
            <p:cNvPr id="17" name="Google Shape;51;p3">
              <a:extLst>
                <a:ext uri="{FF2B5EF4-FFF2-40B4-BE49-F238E27FC236}">
                  <a16:creationId xmlns:a16="http://schemas.microsoft.com/office/drawing/2014/main" id="{3028E555-4F30-F5C8-B281-2682BD8AC6CB}"/>
                </a:ext>
              </a:extLst>
            </p:cNvPr>
            <p:cNvSpPr/>
            <p:nvPr/>
          </p:nvSpPr>
          <p:spPr>
            <a:xfrm>
              <a:off x="754380" y="23372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Simon AbdelMalak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Google Shape;52;p3">
              <a:extLst>
                <a:ext uri="{FF2B5EF4-FFF2-40B4-BE49-F238E27FC236}">
                  <a16:creationId xmlns:a16="http://schemas.microsoft.com/office/drawing/2014/main" id="{1D9191F8-F9BA-7FDD-15A8-E79A70E16F54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50;p3">
            <a:extLst>
              <a:ext uri="{FF2B5EF4-FFF2-40B4-BE49-F238E27FC236}">
                <a16:creationId xmlns:a16="http://schemas.microsoft.com/office/drawing/2014/main" id="{995A8D40-4900-E1E7-058B-A97BD9DF55D1}"/>
              </a:ext>
            </a:extLst>
          </p:cNvPr>
          <p:cNvGrpSpPr/>
          <p:nvPr/>
        </p:nvGrpSpPr>
        <p:grpSpPr>
          <a:xfrm>
            <a:off x="2792186" y="7353300"/>
            <a:ext cx="8553420" cy="417179"/>
            <a:chOff x="571500" y="2336175"/>
            <a:chExt cx="5702280" cy="278119"/>
          </a:xfrm>
        </p:grpSpPr>
        <p:sp>
          <p:nvSpPr>
            <p:cNvPr id="20" name="Google Shape;51;p3">
              <a:extLst>
                <a:ext uri="{FF2B5EF4-FFF2-40B4-BE49-F238E27FC236}">
                  <a16:creationId xmlns:a16="http://schemas.microsoft.com/office/drawing/2014/main" id="{5DE8B006-0855-4E45-841B-BC0846288B65}"/>
                </a:ext>
              </a:extLst>
            </p:cNvPr>
            <p:cNvSpPr/>
            <p:nvPr/>
          </p:nvSpPr>
          <p:spPr>
            <a:xfrm>
              <a:off x="754380" y="23372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 Amr Mohamed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Google Shape;52;p3">
              <a:extLst>
                <a:ext uri="{FF2B5EF4-FFF2-40B4-BE49-F238E27FC236}">
                  <a16:creationId xmlns:a16="http://schemas.microsoft.com/office/drawing/2014/main" id="{1E2349D7-7521-EFEB-5430-3CD8244EA3AF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45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Team</a:t>
              </a:r>
              <a:endParaRPr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54018E2D-36AB-1EDF-D600-D15897955066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284BEBB-714C-92CC-389B-E04930B213DE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394F93CE-FA03-9F84-6741-14F9A46C6D20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1BA0F404-A618-BA1C-0C1D-8354EB22E6B7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1FA5297E-EA5D-D0DB-126D-6DF8EC831E4D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4A19E93E-6108-ED16-243D-B4A0E6FBA9EE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F8F1CAE1-CD2D-79C6-CB36-AD0CD87D5F1D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29A19AD9-EBB1-813C-D241-45CED0068827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857413E5-FA07-4665-D62C-D834A4A0AB2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30107B25-C25E-5ABC-C684-9F31E39AEF21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EB90A88A-2C73-1444-72B8-52AE73DCEBA7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9760B485-182A-D2A8-45B2-9C1A827E5D7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EF15EDE-AECC-181D-01BA-8D9340B862DA}"/>
              </a:ext>
            </a:extLst>
          </p:cNvPr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5576E15D-48D3-A62E-5283-2B52E5068A79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4689994B-7F51-9019-DF8D-4081452D209A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08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b="1" dirty="0">
                <a:solidFill>
                  <a:schemeClr val="lt1"/>
                </a:solidFill>
              </a:rPr>
              <a:t>Introduction</a:t>
            </a:r>
            <a:endParaRPr lang="en-US" sz="2700" b="1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2743200" y="3288006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F232A37-0B49-E575-29F9-510FCEE1A65D}"/>
              </a:ext>
            </a:extLst>
          </p:cNvPr>
          <p:cNvSpPr txBox="1"/>
          <p:nvPr/>
        </p:nvSpPr>
        <p:spPr>
          <a:xfrm rot="10800000" flipV="1">
            <a:off x="2895600" y="3249906"/>
            <a:ext cx="151703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 Most small libraries still track their books the old way.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A notebook, or maybe a messy spreadsheet. 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We wanted to fix that with something simple like a command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line app that handles the whole flow adding books, magazines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and digital resources, registering members, borrowing and returning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items, and pulling up reports whenever you need them. It's not fancy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but it's fast, reliable, and it actually works the way a librarian thinks.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b="1" dirty="0"/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59;p3">
            <a:extLst>
              <a:ext uri="{FF2B5EF4-FFF2-40B4-BE49-F238E27FC236}">
                <a16:creationId xmlns:a16="http://schemas.microsoft.com/office/drawing/2014/main" id="{85E349D9-A193-F0B4-178E-3B608030D164}"/>
              </a:ext>
            </a:extLst>
          </p:cNvPr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42" name="Google Shape;60;p3">
              <a:extLst>
                <a:ext uri="{FF2B5EF4-FFF2-40B4-BE49-F238E27FC236}">
                  <a16:creationId xmlns:a16="http://schemas.microsoft.com/office/drawing/2014/main" id="{EFFC4856-B028-838B-CC8D-3EF685ED7D61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Google Shape;61;p3">
              <a:extLst>
                <a:ext uri="{FF2B5EF4-FFF2-40B4-BE49-F238E27FC236}">
                  <a16:creationId xmlns:a16="http://schemas.microsoft.com/office/drawing/2014/main" id="{89CD6F7D-5AF4-EFA3-BD31-0DD92052428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59;p3">
            <a:extLst>
              <a:ext uri="{FF2B5EF4-FFF2-40B4-BE49-F238E27FC236}">
                <a16:creationId xmlns:a16="http://schemas.microsoft.com/office/drawing/2014/main" id="{EA2AD48F-33F1-D423-8B43-A2B9E6186B50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45" name="Google Shape;60;p3">
              <a:extLst>
                <a:ext uri="{FF2B5EF4-FFF2-40B4-BE49-F238E27FC236}">
                  <a16:creationId xmlns:a16="http://schemas.microsoft.com/office/drawing/2014/main" id="{02D5BB92-6829-58A4-14C4-CC2E1C38E7BA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46" name="Google Shape;61;p3">
              <a:extLst>
                <a:ext uri="{FF2B5EF4-FFF2-40B4-BE49-F238E27FC236}">
                  <a16:creationId xmlns:a16="http://schemas.microsoft.com/office/drawing/2014/main" id="{4DBAE548-F2FA-0118-D8D8-7A4374A5963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9;p3">
            <a:extLst>
              <a:ext uri="{FF2B5EF4-FFF2-40B4-BE49-F238E27FC236}">
                <a16:creationId xmlns:a16="http://schemas.microsoft.com/office/drawing/2014/main" id="{27BE83FF-282E-B11E-237A-CEC6525324D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49" name="Google Shape;60;p3">
              <a:extLst>
                <a:ext uri="{FF2B5EF4-FFF2-40B4-BE49-F238E27FC236}">
                  <a16:creationId xmlns:a16="http://schemas.microsoft.com/office/drawing/2014/main" id="{9308C891-F45F-3040-CFCF-C3E87DE5FE00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Google Shape;61;p3">
              <a:extLst>
                <a:ext uri="{FF2B5EF4-FFF2-40B4-BE49-F238E27FC236}">
                  <a16:creationId xmlns:a16="http://schemas.microsoft.com/office/drawing/2014/main" id="{A41658F1-DA9B-77CA-EFB1-58FA37D2F87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9;p3">
            <a:extLst>
              <a:ext uri="{FF2B5EF4-FFF2-40B4-BE49-F238E27FC236}">
                <a16:creationId xmlns:a16="http://schemas.microsoft.com/office/drawing/2014/main" id="{F39646BC-47E1-D10A-F074-2B3D26B42E27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52" name="Google Shape;60;p3">
              <a:extLst>
                <a:ext uri="{FF2B5EF4-FFF2-40B4-BE49-F238E27FC236}">
                  <a16:creationId xmlns:a16="http://schemas.microsoft.com/office/drawing/2014/main" id="{1559F5DA-B18D-651C-52F0-64E602F05161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Google Shape;61;p3">
              <a:extLst>
                <a:ext uri="{FF2B5EF4-FFF2-40B4-BE49-F238E27FC236}">
                  <a16:creationId xmlns:a16="http://schemas.microsoft.com/office/drawing/2014/main" id="{3CA93381-05C7-6869-2C6A-D9F9CD9475D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6;p3">
            <a:extLst>
              <a:ext uri="{FF2B5EF4-FFF2-40B4-BE49-F238E27FC236}">
                <a16:creationId xmlns:a16="http://schemas.microsoft.com/office/drawing/2014/main" id="{B16BFB6F-F05C-E902-F780-54F76DE8E1B1}"/>
              </a:ext>
            </a:extLst>
          </p:cNvPr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55" name="Google Shape;57;p3">
              <a:extLst>
                <a:ext uri="{FF2B5EF4-FFF2-40B4-BE49-F238E27FC236}">
                  <a16:creationId xmlns:a16="http://schemas.microsoft.com/office/drawing/2014/main" id="{19ED329B-680C-2F4B-91C2-22D9456E29D7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56" name="Google Shape;58;p3">
              <a:extLst>
                <a:ext uri="{FF2B5EF4-FFF2-40B4-BE49-F238E27FC236}">
                  <a16:creationId xmlns:a16="http://schemas.microsoft.com/office/drawing/2014/main" id="{ED519012-679F-022C-B285-26D9FB5ED4F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3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Problem Statement</a:t>
            </a:r>
            <a:endParaRPr lang="en-US" sz="270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2743200" y="3066777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B2EBBB-0ECF-9DE8-057F-E23DC6583C7D}"/>
              </a:ext>
            </a:extLst>
          </p:cNvPr>
          <p:cNvSpPr txBox="1"/>
          <p:nvPr/>
        </p:nvSpPr>
        <p:spPr>
          <a:xfrm rot="10800000" flipV="1">
            <a:off x="2852055" y="3435340"/>
            <a:ext cx="151285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If you're running a small library and everything's on paper or in a                         spreadsheet, things fall apart fast and you lose track of who has what 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,you miss due dates, and there's no quick way to check what's overdue or what's even   available right now. We wanted something in between a paper log and a full-blown database system that is light enough to run anywhere, but smart enough to actually manage the library properly.</a:t>
            </a:r>
          </a:p>
        </p:txBody>
      </p:sp>
    </p:spTree>
    <p:extLst>
      <p:ext uri="{BB962C8B-B14F-4D97-AF65-F5344CB8AC3E}">
        <p14:creationId xmlns:p14="http://schemas.microsoft.com/office/powerpoint/2010/main" val="333928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b="1" dirty="0"/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031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8;p3">
            <a:extLst>
              <a:ext uri="{FF2B5EF4-FFF2-40B4-BE49-F238E27FC236}">
                <a16:creationId xmlns:a16="http://schemas.microsoft.com/office/drawing/2014/main" id="{CC24C15E-E69E-B343-9BAA-1E09F28B9890}"/>
              </a:ext>
            </a:extLst>
          </p:cNvPr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Methodology</a:t>
            </a:r>
            <a:endParaRPr sz="5000" b="1" dirty="0">
              <a:solidFill>
                <a:schemeClr val="lt1"/>
              </a:solidFill>
            </a:endParaRPr>
          </a:p>
        </p:txBody>
      </p:sp>
      <p:cxnSp>
        <p:nvCxnSpPr>
          <p:cNvPr id="7" name="Google Shape;41;p2">
            <a:extLst>
              <a:ext uri="{FF2B5EF4-FFF2-40B4-BE49-F238E27FC236}">
                <a16:creationId xmlns:a16="http://schemas.microsoft.com/office/drawing/2014/main" id="{B20449E8-54DB-AE07-F71C-951C06186EAE}"/>
              </a:ext>
            </a:extLst>
          </p:cNvPr>
          <p:cNvCxnSpPr>
            <a:cxnSpLocks/>
          </p:cNvCxnSpPr>
          <p:nvPr/>
        </p:nvCxnSpPr>
        <p:spPr>
          <a:xfrm flipH="1">
            <a:off x="2545868" y="3761014"/>
            <a:ext cx="9214" cy="2525486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3EA8FA-2998-297F-C1FA-A7192F33AE00}"/>
              </a:ext>
            </a:extLst>
          </p:cNvPr>
          <p:cNvSpPr txBox="1"/>
          <p:nvPr/>
        </p:nvSpPr>
        <p:spPr>
          <a:xfrm>
            <a:off x="2587739" y="376101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dirty="0"/>
              <a:t>Object-Oriented</a:t>
            </a:r>
            <a:r>
              <a:rPr lang="en-US" sz="3200" b="1" i="0" u="none" dirty="0">
                <a:latin typeface="+mj-lt"/>
              </a:rPr>
              <a:t> </a:t>
            </a:r>
            <a:r>
              <a:rPr lang="en-US" sz="3200" b="1" i="0" u="none" dirty="0"/>
              <a:t>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CAD8A-6BF1-3B74-8F42-9A491EA1B06A}"/>
              </a:ext>
            </a:extLst>
          </p:cNvPr>
          <p:cNvSpPr txBox="1"/>
          <p:nvPr/>
        </p:nvSpPr>
        <p:spPr>
          <a:xfrm>
            <a:off x="2565968" y="4533900"/>
            <a:ext cx="10388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Uses a main base template for items (`</a:t>
            </a:r>
            <a:r>
              <a:rPr lang="en-US" sz="2800" dirty="0" err="1"/>
              <a:t>LibraryItem</a:t>
            </a:r>
            <a:r>
              <a:rPr lang="en-US" sz="2800" dirty="0"/>
              <a:t>`) and simple separate types like books, magazines, and digital files to handle their own unique rules.</a:t>
            </a:r>
            <a:endParaRPr lang="en-US" sz="4000" b="0" i="0" u="none" dirty="0"/>
          </a:p>
        </p:txBody>
      </p:sp>
    </p:spTree>
    <p:extLst>
      <p:ext uri="{BB962C8B-B14F-4D97-AF65-F5344CB8AC3E}">
        <p14:creationId xmlns:p14="http://schemas.microsoft.com/office/powerpoint/2010/main" val="14660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3">
            <a:extLst>
              <a:ext uri="{FF2B5EF4-FFF2-40B4-BE49-F238E27FC236}">
                <a16:creationId xmlns:a16="http://schemas.microsoft.com/office/drawing/2014/main" id="{448E416B-E9BF-2F68-2965-864E99D79CE6}"/>
              </a:ext>
            </a:extLst>
          </p:cNvPr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Methodology</a:t>
            </a:r>
            <a:endParaRPr sz="5000" b="1" dirty="0">
              <a:solidFill>
                <a:schemeClr val="lt1"/>
              </a:solidFill>
            </a:endParaRPr>
          </a:p>
        </p:txBody>
      </p:sp>
      <p:cxnSp>
        <p:nvCxnSpPr>
          <p:cNvPr id="3" name="Google Shape;41;p2">
            <a:extLst>
              <a:ext uri="{FF2B5EF4-FFF2-40B4-BE49-F238E27FC236}">
                <a16:creationId xmlns:a16="http://schemas.microsoft.com/office/drawing/2014/main" id="{DAB6ABB8-8568-FE67-3061-B9E832C352CA}"/>
              </a:ext>
            </a:extLst>
          </p:cNvPr>
          <p:cNvCxnSpPr>
            <a:cxnSpLocks/>
          </p:cNvCxnSpPr>
          <p:nvPr/>
        </p:nvCxnSpPr>
        <p:spPr>
          <a:xfrm flipH="1">
            <a:off x="2547258" y="3761014"/>
            <a:ext cx="7824" cy="2144486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E527F9-384F-8804-0AAD-FD1C07F2DA23}"/>
              </a:ext>
            </a:extLst>
          </p:cNvPr>
          <p:cNvSpPr txBox="1"/>
          <p:nvPr/>
        </p:nvSpPr>
        <p:spPr>
          <a:xfrm>
            <a:off x="2587739" y="376101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dirty="0"/>
              <a:t>Simple Input Checks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DE1E9-F2D7-DFFB-8C4C-273DCAFCB613}"/>
              </a:ext>
            </a:extLst>
          </p:cNvPr>
          <p:cNvSpPr txBox="1"/>
          <p:nvPr/>
        </p:nvSpPr>
        <p:spPr>
          <a:xfrm>
            <a:off x="2565968" y="4533900"/>
            <a:ext cx="103880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Checks member IDs and emails using quick validation patterns so users cannot enter broken or incorrect information.</a:t>
            </a:r>
            <a:endParaRPr lang="en-US" sz="5400" b="0" i="0" u="none" dirty="0"/>
          </a:p>
        </p:txBody>
      </p:sp>
    </p:spTree>
    <p:extLst>
      <p:ext uri="{BB962C8B-B14F-4D97-AF65-F5344CB8AC3E}">
        <p14:creationId xmlns:p14="http://schemas.microsoft.com/office/powerpoint/2010/main" val="416086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266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3">
            <a:extLst>
              <a:ext uri="{FF2B5EF4-FFF2-40B4-BE49-F238E27FC236}">
                <a16:creationId xmlns:a16="http://schemas.microsoft.com/office/drawing/2014/main" id="{3BAB25F6-5F34-381A-F3A0-40E7D7545B0B}"/>
              </a:ext>
            </a:extLst>
          </p:cNvPr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Key Tasks</a:t>
            </a:r>
            <a:endParaRPr sz="5000" b="1" dirty="0">
              <a:solidFill>
                <a:schemeClr val="l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387B7-2814-BED2-2978-E3F867500BE6}"/>
              </a:ext>
            </a:extLst>
          </p:cNvPr>
          <p:cNvSpPr txBox="1"/>
          <p:nvPr/>
        </p:nvSpPr>
        <p:spPr>
          <a:xfrm>
            <a:off x="2555082" y="3543300"/>
            <a:ext cx="914400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Easily add books, magazines, or digital files to the system.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Automatically creates unique IDs for every new item.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Registers new members while double-checking their details.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Searches through inventory quickly by title or author name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US" sz="1200" b="0" i="0" dirty="0">
              <a:solidFill>
                <a:srgbClr val="D1D5DB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8" name="Google Shape;41;p2">
            <a:extLst>
              <a:ext uri="{FF2B5EF4-FFF2-40B4-BE49-F238E27FC236}">
                <a16:creationId xmlns:a16="http://schemas.microsoft.com/office/drawing/2014/main" id="{A9F50A72-C6DA-CD45-C664-EC09E00F4CCB}"/>
              </a:ext>
            </a:extLst>
          </p:cNvPr>
          <p:cNvCxnSpPr>
            <a:cxnSpLocks/>
          </p:cNvCxnSpPr>
          <p:nvPr/>
        </p:nvCxnSpPr>
        <p:spPr>
          <a:xfrm>
            <a:off x="2546578" y="3543300"/>
            <a:ext cx="0" cy="5032147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09F7B8-E5E4-3E24-581C-437B50B60FDD}"/>
              </a:ext>
            </a:extLst>
          </p:cNvPr>
          <p:cNvSpPr txBox="1"/>
          <p:nvPr/>
        </p:nvSpPr>
        <p:spPr>
          <a:xfrm>
            <a:off x="2555082" y="6072073"/>
            <a:ext cx="10390415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Quickly check out items and set automatic due dates.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Process returned items and calculate small late fees if overdue.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Keep track of what items are currently checked out.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+mn-lt"/>
              </a:rPr>
              <a:t>Print a simple summary showing available vs. borrowed items.</a:t>
            </a:r>
            <a:endParaRPr lang="en-US" b="0" i="0" dirty="0">
              <a:solidFill>
                <a:srgbClr val="D1D5DB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4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676F02-7ABE-8ECA-04A5-CB247D767A5B}"/>
              </a:ext>
            </a:extLst>
          </p:cNvPr>
          <p:cNvSpPr txBox="1"/>
          <p:nvPr/>
        </p:nvSpPr>
        <p:spPr>
          <a:xfrm>
            <a:off x="990600" y="2628900"/>
            <a:ext cx="9220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lt1"/>
                </a:solidFill>
              </a:rPr>
              <a:t>Data Ingestion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0C796-FECB-C2B9-31EF-61646DAB3D19}"/>
              </a:ext>
            </a:extLst>
          </p:cNvPr>
          <p:cNvSpPr txBox="1"/>
          <p:nvPr/>
        </p:nvSpPr>
        <p:spPr>
          <a:xfrm>
            <a:off x="1028700" y="42291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ECB67-0B22-17DB-09A7-855CE678B3E8}"/>
              </a:ext>
            </a:extLst>
          </p:cNvPr>
          <p:cNvSpPr txBox="1"/>
          <p:nvPr/>
        </p:nvSpPr>
        <p:spPr>
          <a:xfrm>
            <a:off x="1072243" y="4281726"/>
            <a:ext cx="9144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>
                <a:solidFill>
                  <a:schemeClr val="lt1"/>
                </a:solidFill>
              </a:rPr>
              <a:t>Json File storage</a:t>
            </a:r>
            <a:endParaRPr lang="en-US" sz="5000" b="1" dirty="0">
              <a:solidFill>
                <a:schemeClr val="l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48CA5-3111-E69D-4E0C-560019AB3375}"/>
              </a:ext>
            </a:extLst>
          </p:cNvPr>
          <p:cNvSpPr txBox="1"/>
          <p:nvPr/>
        </p:nvSpPr>
        <p:spPr>
          <a:xfrm>
            <a:off x="1066800" y="5672942"/>
            <a:ext cx="144780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+mn-lt"/>
              </a:rPr>
              <a:t>Managed neatly inside a dedicated storage helper class.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+mn-lt"/>
              </a:rPr>
              <a:t>Saves active library catalogs and member lists into a simple `</a:t>
            </a:r>
            <a:r>
              <a:rPr lang="en-US" sz="2800" b="0" i="0" dirty="0" err="1">
                <a:solidFill>
                  <a:schemeClr val="bg1"/>
                </a:solidFill>
                <a:effectLst/>
                <a:latin typeface="+mn-lt"/>
              </a:rPr>
              <a:t>library_data.json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+mn-lt"/>
              </a:rPr>
              <a:t>` file.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bg1"/>
                </a:solidFill>
                <a:effectLst/>
                <a:latin typeface="+mn-lt"/>
              </a:rPr>
              <a:t>Formats the file text nicely with neat indentation so it is easy to read.</a:t>
            </a:r>
            <a:endParaRPr lang="en-US" b="0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7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DDBCB-1106-B9EB-D3E0-A3B6BE212181}"/>
              </a:ext>
            </a:extLst>
          </p:cNvPr>
          <p:cNvSpPr txBox="1"/>
          <p:nvPr/>
        </p:nvSpPr>
        <p:spPr>
          <a:xfrm>
            <a:off x="1473200" y="1930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AD372D-AC22-D29E-3FF0-AEAE9FF719F5}"/>
              </a:ext>
            </a:extLst>
          </p:cNvPr>
          <p:cNvSpPr txBox="1"/>
          <p:nvPr/>
        </p:nvSpPr>
        <p:spPr>
          <a:xfrm>
            <a:off x="1905000" y="1684179"/>
            <a:ext cx="9144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Runtime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5D7C08-C31E-C296-9BEB-D47E1EAA2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390900"/>
            <a:ext cx="12540669" cy="557729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9631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493</Words>
  <Application>Microsoft Office PowerPoint</Application>
  <PresentationFormat>Custom</PresentationFormat>
  <Paragraphs>97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Aptos</vt:lpstr>
      <vt:lpstr>Lato</vt:lpstr>
      <vt:lpstr>Malgun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</dc:title>
  <dc:creator>farah walid</dc:creator>
  <cp:lastModifiedBy>Mohamed Ayman</cp:lastModifiedBy>
  <cp:revision>10</cp:revision>
  <dcterms:created xsi:type="dcterms:W3CDTF">2006-08-16T00:00:00Z</dcterms:created>
  <dcterms:modified xsi:type="dcterms:W3CDTF">2026-09-08T20:51:13Z</dcterms:modified>
  <dc:identifier>DAGQ85K8Zw8</dc:identifier>
</cp:coreProperties>
</file>